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22"/>
  </p:handoutMasterIdLst>
  <p:sldIdLst>
    <p:sldId id="256" r:id="rId3"/>
    <p:sldId id="266" r:id="rId4"/>
    <p:sldId id="267" r:id="rId5"/>
    <p:sldId id="263" r:id="rId6"/>
    <p:sldId id="257" r:id="rId7"/>
    <p:sldId id="265" r:id="rId8"/>
    <p:sldId id="278" r:id="rId9"/>
    <p:sldId id="258" r:id="rId10"/>
    <p:sldId id="271" r:id="rId11"/>
    <p:sldId id="268" r:id="rId12"/>
    <p:sldId id="259" r:id="rId13"/>
    <p:sldId id="270" r:id="rId14"/>
    <p:sldId id="260" r:id="rId15"/>
    <p:sldId id="276" r:id="rId16"/>
    <p:sldId id="275" r:id="rId17"/>
    <p:sldId id="261" r:id="rId18"/>
    <p:sldId id="262" r:id="rId19"/>
    <p:sldId id="277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222502" y="4582500"/>
            <a:ext cx="3769316" cy="1238671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标题 3"/>
          <p:cNvSpPr>
            <a:spLocks noGrp="1"/>
          </p:cNvSpPr>
          <p:nvPr/>
        </p:nvSpPr>
        <p:spPr>
          <a:xfrm>
            <a:off x="5768340" y="4838188"/>
            <a:ext cx="2873375" cy="559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>
                    <a:lumMod val="10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pPr algn="ctr"/>
            <a:r>
              <a:rPr sz="2400">
                <a:sym typeface="+mn-ea"/>
              </a:rPr>
              <a:t>Σύντομη Παρουσίαση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723265"/>
            <a:ext cx="9639300" cy="292798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>
            <a:defPPr>
              <a:defRPr lang="zh-CN"/>
            </a:defPPr>
            <a:lvl1pPr algn="r">
              <a:defRPr sz="8000" b="1" spc="-300">
                <a:solidFill>
                  <a:srgbClr val="343D46"/>
                </a:solidFill>
                <a:latin typeface="Arial Nova" panose="020B0604020202020204" pitchFamily="34" charset="0"/>
              </a:defRPr>
            </a:lvl1pPr>
          </a:lstStyle>
          <a:p>
            <a:pPr>
              <a:lnSpc>
                <a:spcPts val="8400"/>
              </a:lnSpc>
            </a:pP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270" y="723265"/>
            <a:ext cx="7034530" cy="2348230"/>
          </a:xfrm>
        </p:spPr>
        <p:txBody>
          <a:bodyPr/>
          <a:lstStyle/>
          <a:p>
            <a:r>
              <a:t>17 Νοεμβρίου: Μνήμη και Σύγχρονη Ελλάδα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ymbolic-illustration-of-democracy-and-freedom-glowing-candle-or-torch-in-the-foreground-stylized-gr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-635" y="0"/>
            <a:ext cx="9144000" cy="685863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tcJATXqXHXREF5hrMf98--0--mcps1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-635" y="0"/>
            <a:ext cx="9144635" cy="685863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Lucid_Origin_Abstract_artwork_representing_remembrance_and_soc_3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0" y="0"/>
            <a:ext cx="9144000" cy="685736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0"/>
            <a:ext cx="9143365" cy="6857365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7955"/>
            <a:ext cx="6620510" cy="1143000"/>
          </a:xfrm>
        </p:spPr>
        <p:txBody>
          <a:bodyPr/>
          <a:lstStyle/>
          <a:p>
            <a:r>
              <a:t>Η Σημασία της Επετείου</a:t>
            </a:r>
          </a:p>
        </p:txBody>
      </p:sp>
      <p:sp>
        <p:nvSpPr>
          <p:cNvPr id="28" name="矩形 27"/>
          <p:cNvSpPr/>
          <p:nvPr/>
        </p:nvSpPr>
        <p:spPr>
          <a:xfrm>
            <a:off x="4571365" y="3963035"/>
            <a:ext cx="4551680" cy="2623185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365" y="3963670"/>
            <a:ext cx="4585970" cy="2631440"/>
          </a:xfrm>
        </p:spPr>
        <p:txBody>
          <a:bodyPr>
            <a:normAutofit fontScale="90000" lnSpcReduction="20000"/>
          </a:bodyPr>
          <a:lstStyle/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Σύμβολο δημοκρατίας και αντίστασης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Μνήμη που συνδέει το παρελθόν με το παρόν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l-GR" b="1">
                <a:solidFill>
                  <a:schemeClr val="accent3">
                    <a:lumMod val="60000"/>
                    <a:lumOff val="40000"/>
                  </a:schemeClr>
                </a:solidFill>
              </a:rPr>
              <a:t>Α</a:t>
            </a:r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φορμή για δημόσιο διάλογο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z6nZBhyVeHltOT01FVYm--0--3zkwk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-635" y="0"/>
            <a:ext cx="9144000" cy="685736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X5O3tyyWZp2b5gbDnpd5--0--zphbk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-635" y="0"/>
            <a:ext cx="9144635" cy="685863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0" y="1324610"/>
            <a:ext cx="5126355" cy="1337310"/>
          </a:xfrm>
        </p:spPr>
        <p:txBody>
          <a:bodyPr>
            <a:normAutofit fontScale="90000"/>
          </a:bodyPr>
          <a:lstStyle/>
          <a:p>
            <a:r>
              <a:t>Σύγχρονη Πολιτική Κατάσταση</a:t>
            </a:r>
          </a:p>
        </p:txBody>
      </p:sp>
      <p:sp>
        <p:nvSpPr>
          <p:cNvPr id="28" name="矩形 27"/>
          <p:cNvSpPr/>
          <p:nvPr/>
        </p:nvSpPr>
        <p:spPr>
          <a:xfrm>
            <a:off x="4462145" y="3914775"/>
            <a:ext cx="4529455" cy="2579370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2145" y="3860800"/>
            <a:ext cx="4500880" cy="2633345"/>
          </a:xfrm>
        </p:spPr>
        <p:txBody>
          <a:bodyPr>
            <a:normAutofit fontScale="90000"/>
          </a:bodyPr>
          <a:lstStyle/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Πολιτική πόλωση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Ζητήματα λογοδοσίας και αστυνόμευσης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Χαμηλή εμπιστοσύνη στους θεσμούς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Lucid_Origin_Minimalist_conceptual_image_of_two_sides_in_tensi_1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0" y="0"/>
            <a:ext cx="9144000" cy="685863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z938lkWDM29CQNZtukiA--0--st5xm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-635" y="0"/>
            <a:ext cx="9144635" cy="685736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45" y="1621790"/>
            <a:ext cx="6654800" cy="984250"/>
          </a:xfrm>
        </p:spPr>
        <p:txBody>
          <a:bodyPr>
            <a:normAutofit fontScale="90000"/>
          </a:bodyPr>
          <a:lstStyle/>
          <a:p>
            <a:r>
              <a:t>Κοινωνικό και Οικονομικό Πλαίσιο</a:t>
            </a:r>
          </a:p>
        </p:txBody>
      </p:sp>
      <p:sp>
        <p:nvSpPr>
          <p:cNvPr id="28" name="矩形 27"/>
          <p:cNvSpPr/>
          <p:nvPr/>
        </p:nvSpPr>
        <p:spPr>
          <a:xfrm>
            <a:off x="3392805" y="4109085"/>
            <a:ext cx="5598795" cy="2498725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425" y="4155440"/>
            <a:ext cx="5591175" cy="2439035"/>
          </a:xfrm>
        </p:spPr>
        <p:txBody>
          <a:bodyPr>
            <a:normAutofit lnSpcReduction="20000"/>
          </a:bodyPr>
          <a:lstStyle/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Ανεργία και επισφάλεια νέων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Αύξηση κόστους ζωής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Ανισότητες και κοινωνικές πιέσεις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kEFV2gh0kFD8iFetmxVY--0--sy3g2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0" y="0"/>
            <a:ext cx="9144000" cy="685736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-635" y="0"/>
            <a:ext cx="9144635" cy="6858000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1564323"/>
            <a:ext cx="8229600" cy="1143000"/>
          </a:xfrm>
        </p:spPr>
        <p:txBody>
          <a:bodyPr/>
          <a:lstStyle/>
          <a:p>
            <a:r>
              <a:t>Ρόλος της Νεολαίας</a:t>
            </a:r>
          </a:p>
        </p:txBody>
      </p:sp>
      <p:sp>
        <p:nvSpPr>
          <p:cNvPr id="28" name="矩形 27"/>
          <p:cNvSpPr/>
          <p:nvPr/>
        </p:nvSpPr>
        <p:spPr>
          <a:xfrm>
            <a:off x="3871595" y="4109085"/>
            <a:ext cx="4848225" cy="2298065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0485" y="4310380"/>
            <a:ext cx="4623435" cy="2096135"/>
          </a:xfrm>
        </p:spPr>
        <p:txBody>
          <a:bodyPr>
            <a:normAutofit fontScale="70000"/>
          </a:bodyPr>
          <a:lstStyle/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Υψηλή κινηματική συμμετοχή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Χαμηλή εμπιστοσύνη στα κόμματα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Σύνδεση αιτημάτων με το «Ψωμί – Παιδεία – Ελευθερία»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fwlztsoj4kLdQH8LsdFv--1--u8dts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0" y="-635"/>
            <a:ext cx="9144000" cy="68580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hxfgbBo8Fia8Gqmb2nj--0--uulqa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0" y="0"/>
            <a:ext cx="9143365" cy="68580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0"/>
            <a:ext cx="9144000" cy="6858635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820795" y="3861435"/>
            <a:ext cx="4945380" cy="2535555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75" y="1417955"/>
            <a:ext cx="6423025" cy="1249045"/>
          </a:xfrm>
        </p:spPr>
        <p:txBody>
          <a:bodyPr>
            <a:normAutofit fontScale="90000"/>
          </a:bodyPr>
          <a:lstStyle/>
          <a:p>
            <a:r>
              <a:t>Η Μνήμη ως Πεδίο Αντιπαράθεσης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100" y="4004945"/>
            <a:ext cx="4711065" cy="2248535"/>
          </a:xfrm>
        </p:spPr>
        <p:txBody>
          <a:bodyPr>
            <a:normAutofit fontScale="70000"/>
          </a:bodyPr>
          <a:lstStyle/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Διαφορετικές πολιτικές αναγνώσεις της ιστορίας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 Συγκρούσεις για το νόημα του Πολυτεχνείου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Ερώτημα: πώς διδάσκουμε τη δημοκρατία σήμερα;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635" y="0"/>
            <a:ext cx="9143365" cy="6858000"/>
          </a:xfrm>
          <a:prstGeom prst="rect">
            <a:avLst/>
          </a:prstGeom>
          <a:blipFill dpi="0" rotWithShape="1">
            <a:blip r:embed="rId1"/>
            <a:srcRect/>
            <a:stretch>
              <a:fillRect t="-4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4470" y="1279208"/>
            <a:ext cx="8229600" cy="1143000"/>
          </a:xfrm>
        </p:spPr>
        <p:txBody>
          <a:bodyPr/>
          <a:lstStyle/>
          <a:p>
            <a:r>
              <a:t>Κεντρικό Μήνυμα</a:t>
            </a:r>
          </a:p>
        </p:txBody>
      </p:sp>
      <p:sp>
        <p:nvSpPr>
          <p:cNvPr id="28" name="矩形 27"/>
          <p:cNvSpPr/>
          <p:nvPr/>
        </p:nvSpPr>
        <p:spPr>
          <a:xfrm>
            <a:off x="3820795" y="3860800"/>
            <a:ext cx="4829175" cy="2536190"/>
          </a:xfrm>
          <a:prstGeom prst="rect">
            <a:avLst/>
          </a:prstGeom>
          <a:solidFill>
            <a:srgbClr val="343D4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2540" y="3896360"/>
            <a:ext cx="4874260" cy="2536825"/>
          </a:xfrm>
        </p:spPr>
        <p:txBody>
          <a:bodyPr>
            <a:normAutofit fontScale="70000"/>
          </a:bodyPr>
          <a:lstStyle/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Η δημοκρατία δεν θεωρείται δεδομένη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Απαιτεί συμμετοχή, ευθύνη και διάλογο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b="1">
                <a:solidFill>
                  <a:schemeClr val="accent3">
                    <a:lumMod val="60000"/>
                    <a:lumOff val="40000"/>
                  </a:schemeClr>
                </a:solidFill>
              </a:rPr>
              <a:t>Η μνήμη του Πολυτεχνείου μάς καλεί να κοιτάμε το παρόν</a:t>
            </a:r>
            <a:endParaRPr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fwlztsoj4kLdQH8LsdFv--2--kz2tg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0" y="0"/>
            <a:ext cx="9144000" cy="685863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 descr="9Ojf7TYH6R7SaxnR0sw7--0--2s02m"/>
          <p:cNvPicPr>
            <a:picLocks noChangeAspect="1"/>
          </p:cNvPicPr>
          <p:nvPr>
            <p:ph idx="1"/>
          </p:nvPr>
        </p:nvPicPr>
        <p:blipFill>
          <a:blip r:embed="rId1"/>
          <a:srcRect t="22500" b="22500"/>
          <a:stretch>
            <a:fillRect/>
          </a:stretch>
        </p:blipFill>
        <p:spPr>
          <a:xfrm>
            <a:off x="-635" y="0"/>
            <a:ext cx="9144635" cy="6858635"/>
          </a:xfr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48615" y="136525"/>
            <a:ext cx="8356600" cy="1909445"/>
          </a:xfrm>
        </p:spPr>
        <p:txBody>
          <a:bodyPr>
            <a:noAutofit/>
          </a:bodyPr>
          <a:lstStyle/>
          <a:p>
            <a:r>
              <a:rPr lang="el-GR" sz="6600" b="1">
                <a:solidFill>
                  <a:schemeClr val="accent6">
                    <a:lumMod val="20000"/>
                    <a:lumOff val="80000"/>
                  </a:schemeClr>
                </a:solidFill>
              </a:rPr>
              <a:t>17 Νοεμβρίου 2025</a:t>
            </a:r>
            <a:endParaRPr lang="el-GR" sz="6600" b="1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 advTm="10000">
        <p:fade/>
      </p:transition>
    </mc:Choice>
    <mc:Fallback>
      <p:transition spd="med" advClick="0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WPS Presentation</Application>
  <PresentationFormat>On-screen Show (4:3)</PresentationFormat>
  <Paragraphs>42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思源黑体</vt:lpstr>
      <vt:lpstr>Arial Nova</vt:lpstr>
      <vt:lpstr>Office Theme</vt:lpstr>
      <vt:lpstr>POWERPOINT STANDARD TEMPLATE</vt:lpstr>
      <vt:lpstr>PowerPoint 演示文稿</vt:lpstr>
      <vt:lpstr>PowerPoint 演示文稿</vt:lpstr>
      <vt:lpstr>PowerPoint 演示文稿</vt:lpstr>
      <vt:lpstr>Η Σημασία της Επετείου</vt:lpstr>
      <vt:lpstr>PowerPoint 演示文稿</vt:lpstr>
      <vt:lpstr>PowerPoint 演示文稿</vt:lpstr>
      <vt:lpstr>Σύγχρονη Πολιτική Κατάσταση</vt:lpstr>
      <vt:lpstr>PowerPoint 演示文稿</vt:lpstr>
      <vt:lpstr>PowerPoint 演示文稿</vt:lpstr>
      <vt:lpstr>Κοινωνικό και Οικονομικό Πλαίσιο</vt:lpstr>
      <vt:lpstr>PowerPoint 演示文稿</vt:lpstr>
      <vt:lpstr>Ρόλος της Νεολαίας</vt:lpstr>
      <vt:lpstr>PowerPoint 演示文稿</vt:lpstr>
      <vt:lpstr>PowerPoint 演示文稿</vt:lpstr>
      <vt:lpstr>Η Μνήμη ως Πεδίο Αντιπαράθεσης</vt:lpstr>
      <vt:lpstr>Κεντρικό Μήνυμα</vt:lpstr>
      <vt:lpstr>PowerPoint 演示文稿</vt:lpstr>
      <vt:lpstr>Κεντρικό Μήνυμα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Eleni P. Paraschou</cp:lastModifiedBy>
  <cp:revision>2</cp:revision>
  <dcterms:created xsi:type="dcterms:W3CDTF">2013-01-27T09:14:00Z</dcterms:created>
  <dcterms:modified xsi:type="dcterms:W3CDTF">2025-11-15T08:59:43Z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9CBB938F38814634AE5E3D92567AE76B_13</vt:lpwstr>
  </property>
  <property fmtid="{D5CDD505-2E9C-101B-9397-08002B2CF9AE}" pid="3" name="KSOProductBuildVer">
    <vt:lpwstr>1033-12.2.0.23149</vt:lpwstr>
  </property>
</Properties>
</file>